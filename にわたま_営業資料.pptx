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0" y="457200"/>
            <a:ext cx="7772400" cy="7772400"/>
          </a:xfrm>
          <a:prstGeom prst="ellipse">
            <a:avLst/>
          </a:prstGeom>
          <a:noFill/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0" y="1371600"/>
            <a:ext cx="5486400" cy="5486400"/>
          </a:xfrm>
          <a:prstGeom prst="ellipse">
            <a:avLst/>
          </a:prstGeom>
          <a:noFill/>
          <a:ln w="15240">
            <a:solidFill>
              <a:srgbClr val="F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0" y="2103120"/>
            <a:ext cx="3200400" cy="3200400"/>
          </a:xfrm>
          <a:prstGeom prst="ellipse">
            <a:avLst/>
          </a:prstGeom>
          <a:noFill/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560320" y="1097280"/>
            <a:ext cx="164592" cy="164592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326880" y="2286000"/>
            <a:ext cx="128016" cy="128016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943600" y="731520"/>
            <a:ext cx="91440" cy="9144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657600" y="5486400"/>
            <a:ext cx="109728" cy="109728"/>
          </a:xfrm>
          <a:prstGeom prst="ellipse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0" y="1371600"/>
            <a:ext cx="3017520" cy="457200"/>
          </a:xfrm>
          <a:prstGeom prst="roundRect">
            <a:avLst/>
          </a:prstGeom>
          <a:noFill/>
          <a:ln w="1270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399032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Orbitron"/>
              </a:defRPr>
            </a:pPr>
            <a:r>
              <a:t>DATA  ×  CREATIVE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2860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0F172A"/>
                </a:solidFill>
                <a:latin typeface="Yu Gothic"/>
              </a:defRPr>
            </a:pPr>
            <a:r>
              <a:t>にわたま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3832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3B82F6"/>
                </a:solidFill>
                <a:latin typeface="Orbitron"/>
              </a:defRPr>
            </a:pPr>
            <a:r>
              <a:t>NEXT MOVE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114800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475569"/>
                </a:solidFill>
                <a:latin typeface="Yu Gothic"/>
              </a:defRPr>
            </a:pPr>
            <a:r>
              <a:t>データとクリエイティブで、ビジネスの次の一手を。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931920" y="5029200"/>
            <a:ext cx="2286000" cy="50292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931920" y="5056632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無料ヒアリング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0" y="5029200"/>
            <a:ext cx="1828800" cy="502920"/>
          </a:xfrm>
          <a:prstGeom prst="roundRect">
            <a:avLst/>
          </a:prstGeom>
          <a:noFill/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505663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F172A"/>
                </a:solidFill>
                <a:latin typeface="Yu Gothic"/>
              </a:defRPr>
            </a:pPr>
            <a:r>
              <a:t>実績を見る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603504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Yu Gothic"/>
              </a:defRPr>
            </a:pPr>
            <a:r>
              <a:t>info@ni-wa-tama.com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21424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43600" y="6821424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noFill/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noFill/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73152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6400800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943600"/>
            <a:ext cx="54864" cy="5486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0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"/>
            <a:ext cx="228600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Orbitron"/>
              </a:defRPr>
            </a:pPr>
            <a:r>
              <a:t>ABOUT US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9144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F172A"/>
                </a:solidFill>
                <a:latin typeface="Yu Gothic"/>
              </a:defRPr>
            </a:pPr>
            <a:r>
              <a:t>クリエイティブとデータが</a:t>
            </a:r>
            <a:br/>
            <a:r>
              <a:t>交差する場所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0312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Yu Gothic"/>
              </a:defRPr>
            </a:pPr>
            <a:r>
              <a:t>私たちは、企業YouTubeチャンネルのディレクション＆プロデュースと、機械学習・需要予測サービスの2軸で、ビジネスの成長を支援します。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Yu Gothic"/>
              </a:defRPr>
            </a:pPr>
            <a:r>
              <a:t>映像から活字まで「正確に、高品質に伝える」クリエイティブと、AIで見えないデータを可視化する独自の分析力。この2つの強みで、競合に埋もれない確かな成果を生み出します。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0" y="1371600"/>
            <a:ext cx="1188720" cy="11887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0" y="15087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3B82F6"/>
                </a:solidFill>
                <a:latin typeface="Orbitron"/>
              </a:defRPr>
            </a:pPr>
            <a:r>
              <a:t>50+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0" y="2057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Projects</a:t>
            </a:r>
          </a:p>
        </p:txBody>
      </p:sp>
      <p:sp>
        <p:nvSpPr>
          <p:cNvPr id="17" name="Oval 16"/>
          <p:cNvSpPr/>
          <p:nvPr/>
        </p:nvSpPr>
        <p:spPr>
          <a:xfrm>
            <a:off x="9144000" y="1371600"/>
            <a:ext cx="1188720" cy="118872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5087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EC4899"/>
                </a:solidFill>
                <a:latin typeface="Orbitron"/>
              </a:defRPr>
            </a:pPr>
            <a:r>
              <a:t>30+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057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Clients</a:t>
            </a:r>
          </a:p>
        </p:txBody>
      </p:sp>
      <p:sp>
        <p:nvSpPr>
          <p:cNvPr id="20" name="Oval 19"/>
          <p:cNvSpPr/>
          <p:nvPr/>
        </p:nvSpPr>
        <p:spPr>
          <a:xfrm>
            <a:off x="10515600" y="1371600"/>
            <a:ext cx="1188720" cy="11887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515600" y="1508760"/>
            <a:ext cx="1188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8B5CF6"/>
                </a:solidFill>
                <a:latin typeface="Orbitron"/>
              </a:defRPr>
            </a:pPr>
            <a:r>
              <a:t>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205740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Possibilities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206240"/>
            <a:ext cx="10515600" cy="22860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206240"/>
            <a:ext cx="10515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88720" y="44348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Orbitron"/>
              </a:defRPr>
            </a:pPr>
            <a:r>
              <a:t>OUR STRENGTHS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88720" y="4846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F172A"/>
                </a:solidFill>
                <a:latin typeface="Yu Gothic"/>
              </a:defRPr>
            </a:pPr>
            <a:r>
              <a:t>圧倒的な品質と、見えないデータを可視化する力。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88720" y="544068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Yu Gothic"/>
              </a:defRPr>
            </a:pPr>
            <a:r>
              <a:t>分析するだけでなく、"伝わって動ける形"にする。社長向けには経営判断として、現場向けにはアクションとして、同じ分析結果を"使う人に伝わる形"に再設計します。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noFill/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noFill/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73152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6400800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943600"/>
            <a:ext cx="54864" cy="5486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0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"/>
            <a:ext cx="228600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Orbitron"/>
              </a:defRPr>
            </a:pPr>
            <a:r>
              <a:t>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Yu Gothic"/>
              </a:defRPr>
            </a:pPr>
            <a:r>
              <a:t>サービス一覧 ①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303520" cy="384048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3898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需要予測・在庫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6596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965960"/>
            <a:ext cx="45720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発注量最適化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POS・天候・販促日からSKU別の適正発注量を自動算出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63239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063239"/>
            <a:ext cx="45720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1546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廃棄ロス予測アラート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747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賞味期限と販売ペースから廃棄リスクをリアルタイム警告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160520"/>
            <a:ext cx="45720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51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自動発注ドラフト生成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予測値から発注書ドラフトを自動生成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5780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257800"/>
            <a:ext cx="45720" cy="9601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349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季節・トレンド連動MD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669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SNS・気象・売上データから来月伸びるカテゴリを予測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371600"/>
            <a:ext cx="5303520" cy="384048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13898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価格・収益最適化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96596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965960"/>
            <a:ext cx="45720" cy="960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宿泊施設ダイナミックプライシング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需要・曜日・イベント・残室数から最適価格を推奨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063239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063239"/>
            <a:ext cx="45720" cy="960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1546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飲食店メニュー価格最適化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4747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曜日・時間帯・客層に応じた最適メニュー価格を提案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0" y="416052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4160520"/>
            <a:ext cx="45720" cy="960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75120" y="4251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EC向けリアルタイム価格調整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7512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競合価格と在庫から利益最大化の価格を提案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0" y="525780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00800" y="5257800"/>
            <a:ext cx="45720" cy="960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75120" y="5349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駐車場・スペース料金最適化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675120" y="5669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需要パターンから時間帯別の最適料金を算出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noFill/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noFill/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73152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6400800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943600"/>
            <a:ext cx="54864" cy="5486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0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"/>
            <a:ext cx="228600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Orbitron"/>
              </a:defRPr>
            </a:pPr>
            <a:r>
              <a:t>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Yu Gothic"/>
              </a:defRPr>
            </a:pPr>
            <a:r>
              <a:t>サービス一覧 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303520" cy="384048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3898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顧客分析・マーケティング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6596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965960"/>
            <a:ext cx="4572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アンケート自動分析＆改善提案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AI分類・感情分析で改善項目を優先度付き自動レポート化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63239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063239"/>
            <a:ext cx="4572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1546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顧客離脱（チャーン）予測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747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来月退会しそうな顧客を予測し事前フォロー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160520"/>
            <a:ext cx="4572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51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販促効果シミュレーション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チラシ・クーポン・LINEの効果を事前シミュレーション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25780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1520" y="5257800"/>
            <a:ext cx="45720" cy="9601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349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顧客セグメント自動分類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6692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LTV別に顧客を自動分類し最適アプローチを提案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00800" y="1371600"/>
            <a:ext cx="5303520" cy="384048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13898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人員・労務最適化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196596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1965960"/>
            <a:ext cx="4572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需要連動型シフト自動作成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来客数・売上予測に基づきシフト表ドラフトを自動生成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3063239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3063239"/>
            <a:ext cx="45720" cy="9601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31546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採用需要予測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34747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3〜6ヶ月後の必要採用数を部門別に予測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noFill/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noFill/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73152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6400800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943600"/>
            <a:ext cx="54864" cy="5486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0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"/>
            <a:ext cx="228600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Orbitron"/>
              </a:defRPr>
            </a:pPr>
            <a:r>
              <a:t>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Yu Gothic"/>
              </a:defRPr>
            </a:pPr>
            <a:r>
              <a:t>サービス一覧 ③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303520" cy="384048"/>
          </a:xfrm>
          <a:prstGeom prst="round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3898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業務効率化・自動化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6596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965960"/>
            <a:ext cx="45720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社内問い合わせAIチャットボット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社内規程・FAQをAIが学習し問い合わせ対応を削減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63239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063239"/>
            <a:ext cx="45720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1546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請求書・納品書の自動読取＆仕訳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747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AI-OCR→勘定科目自動分類→会計ソフト連携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160520"/>
            <a:ext cx="45720" cy="96012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51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契約書レビュー支援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リスク箇所をAIがハイライト、チェックリスト形式で提示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371600"/>
            <a:ext cx="5303520" cy="384048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13898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設備・オペレーション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96596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965960"/>
            <a:ext cx="4572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設備故障予兆検知（予知保全）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センサーデータから故障兆候を検知、ダウンタイム削減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063239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063239"/>
            <a:ext cx="45720" cy="9601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1546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配送ルート最適化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4747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配送先・時間指定・車両キャパから最適ルートを自動算出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noFill/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noFill/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73152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6400800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943600"/>
            <a:ext cx="54864" cy="5486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0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"/>
            <a:ext cx="228600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Orbitron"/>
              </a:defRPr>
            </a:pPr>
            <a:r>
              <a:t>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Yu Gothic"/>
              </a:defRPr>
            </a:pPr>
            <a:r>
              <a:t>サービス一覧 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1371600"/>
            <a:ext cx="5303520" cy="384048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13898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経営判断支援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196596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1965960"/>
            <a:ext cx="4572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経営ダッシュボード自動生成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KPIを自動集約、毎朝見るだけで現状把握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3063239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31520" y="3063239"/>
            <a:ext cx="4572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31546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出店・退店判断支援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4747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商圏データをAI分析し出店候補地をスコアリング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16052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160520"/>
            <a:ext cx="45720" cy="960120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4251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キャッシュフロー予測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売掛金・仕入れ・季節変動を学習し3ヶ月先のCFを予測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0" y="1371600"/>
            <a:ext cx="5303520" cy="384048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29400" y="1389888"/>
            <a:ext cx="4846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Yu Gothic"/>
              </a:defRPr>
            </a:pPr>
            <a:r>
              <a:t>マーケティング / クリエイティブ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00800" y="196596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00800" y="1965960"/>
            <a:ext cx="45720" cy="960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7512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Google/Yahoo/SNS広告運用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237744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CPA改善35〜59%実績。マーケ全体設計〜LINE構築まで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0" y="3063239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00800" y="3063239"/>
            <a:ext cx="45720" cy="960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75120" y="3154679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LPO / SEO / MEO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3474719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ABテストでCVR改善。検索・地図対策で集客基盤構築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400800" y="4160520"/>
            <a:ext cx="5303520" cy="96012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400800" y="4160520"/>
            <a:ext cx="45720" cy="9601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75120" y="42519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F172A"/>
                </a:solidFill>
                <a:latin typeface="Yu Gothic"/>
              </a:defRPr>
            </a:pPr>
            <a:r>
              <a:t>YouTube / SNS運用代行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75120" y="457200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戦略・企画・制作・分析改善まで一気通貫でプロデュース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noFill/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noFill/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73152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6400800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943600"/>
            <a:ext cx="54864" cy="5486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0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"/>
            <a:ext cx="228600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Orbitron"/>
              </a:defRPr>
            </a:pPr>
            <a:r>
              <a:t>CASE STUDY 01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731520"/>
            <a:ext cx="3840480" cy="347472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4980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B82F6"/>
                </a:solidFill>
                <a:latin typeface="Yu Gothic"/>
              </a:defRPr>
            </a:pPr>
            <a:r>
              <a:t>🏨  Hotel / Review Analytics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280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Yu Gothic"/>
              </a:defRPr>
            </a:pPr>
            <a:r>
              <a:t>宿泊レビューを"読む作業"から</a:t>
            </a:r>
            <a:br/>
            <a:r>
              <a:t>"改善に使う資産"へ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Yu Gothic"/>
              </a:defRPr>
            </a:pPr>
            <a:r>
              <a:t>2拠点・計84室の独立系ビジネスホテル｜Googleレビュー・OTA口コミ月180件を横断分析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6400800" cy="3657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51760"/>
            <a:ext cx="45720" cy="36576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83464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口コミは集まっているのに、改善に活かしきれていない。</a:t>
            </a:r>
            <a:br/>
            <a:br/>
            <a:r>
              <a:t>にわたまはGoogleレビューと宿泊アンケートを横断分析。</a:t>
            </a:r>
            <a:br/>
            <a:r>
              <a:t>「何が褒められ、何が満足度を下げているのか」を現場職種別に翻訳し、フロント・清掃・朝食それぞれが動ける改善メモまで落とし込みました。</a:t>
            </a:r>
            <a:br/>
            <a:br/>
            <a:r>
              <a:t>分析するだけでなく、"伝わって動ける形"にすることが、にわたまの支援の特徴です。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731520"/>
            <a:ext cx="4206240" cy="5577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731520"/>
            <a:ext cx="420624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3B82F6"/>
                </a:solidFill>
                <a:latin typeface="Orbitron"/>
              </a:defRPr>
            </a:pPr>
            <a:r>
              <a:t>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1463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536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ネガティブレビュー比率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810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28%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810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783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Yu Gothic"/>
              </a:defRPr>
            </a:pPr>
            <a:r>
              <a:t>17%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2606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679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清掃の低評価言及/月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53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42件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953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926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Yu Gothic"/>
              </a:defRPr>
            </a:pPr>
            <a:r>
              <a:t>19件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3749039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3822191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レビュー平均評価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09651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3.8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09651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0690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Yu Gothic"/>
              </a:defRPr>
            </a:pPr>
            <a:r>
              <a:t>4.2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4892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4965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口コミ確認・集計時間/月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239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12時間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5239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5212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3B82F6"/>
                </a:solidFill>
                <a:latin typeface="Yu Gothic"/>
              </a:defRPr>
            </a:pPr>
            <a:r>
              <a:t>2時間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noFill/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noFill/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73152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6400800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943600"/>
            <a:ext cx="54864" cy="5486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0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"/>
            <a:ext cx="228600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Orbitron"/>
              </a:defRPr>
            </a:pPr>
            <a:r>
              <a:t>CASE STUDY 02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731520"/>
            <a:ext cx="3840480" cy="347472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4980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0B981"/>
                </a:solidFill>
                <a:latin typeface="Yu Gothic"/>
              </a:defRPr>
            </a:pPr>
            <a:r>
              <a:t>🛒  Supermarket / Demand Forecast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280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Yu Gothic"/>
              </a:defRPr>
            </a:pPr>
            <a:r>
              <a:t>勘と経験の発注から、</a:t>
            </a:r>
            <a:br/>
            <a:r>
              <a:t>利益を残す発注へ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Yu Gothic"/>
              </a:defRPr>
            </a:pPr>
            <a:r>
              <a:t>5店舗展開の地域密着型スーパー｜惣菜部門28SKU・月商2,400万円の発注量を最適化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6400800" cy="3657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51760"/>
            <a:ext cx="45720" cy="36576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83464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スーパーの惣菜部門では、売れ残りを恐れて欠品し、欠品を恐れて廃棄する——そんな矛盾が日常的に起きています。</a:t>
            </a:r>
            <a:br/>
            <a:br/>
            <a:r>
              <a:t>にわたまはPOSデータ・曜日・天候・販促日を掛け合わせ、SKUごとの発注量を最適化。</a:t>
            </a:r>
            <a:br/>
            <a:br/>
            <a:r>
              <a:t>店長向けには経営判断として、現場向けには補充アクションとして、"使う人に伝わる形"に再設計しました。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731520"/>
            <a:ext cx="4206240" cy="5577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731520"/>
            <a:ext cx="420624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10B981"/>
                </a:solidFill>
                <a:latin typeface="Orbitron"/>
              </a:defRPr>
            </a:pPr>
            <a:r>
              <a:t>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1463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536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惣菜廃棄率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810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8.6%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810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783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Yu Gothic"/>
              </a:defRPr>
            </a:pPr>
            <a:r>
              <a:t>5.1%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2606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679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欠品率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53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6.4%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953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926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Yu Gothic"/>
              </a:defRPr>
            </a:pPr>
            <a:r>
              <a:t>3.2%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3749039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3822191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惣菜部門 粗利改善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0690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Yu Gothic"/>
              </a:defRPr>
            </a:pPr>
            <a:r>
              <a:t>+78万円/月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4892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4965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発注判断時間/日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239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90分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239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5212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10B981"/>
                </a:solidFill>
                <a:latin typeface="Yu Gothic"/>
              </a:defRPr>
            </a:pPr>
            <a:r>
              <a:t>35分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noFill/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noFill/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73152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6400800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943600"/>
            <a:ext cx="54864" cy="5486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0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"/>
            <a:ext cx="228600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Orbitron"/>
              </a:defRPr>
            </a:pPr>
            <a:r>
              <a:t>CASE STUDY 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731520"/>
            <a:ext cx="3840480" cy="347472"/>
          </a:xfrm>
          <a:prstGeom prst="roundRect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4980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C4899"/>
                </a:solidFill>
                <a:latin typeface="Yu Gothic"/>
              </a:defRPr>
            </a:pPr>
            <a:r>
              <a:t>💰  Hotel / Dynamic Pricing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280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Yu Gothic"/>
              </a:defRPr>
            </a:pPr>
            <a:r>
              <a:t>"値付けの勘"を、</a:t>
            </a:r>
            <a:br/>
            <a:r>
              <a:t>利益につながる判断基準へ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Yu Gothic"/>
              </a:defRPr>
            </a:pPr>
            <a:r>
              <a:t>独立系ホテル・46室｜稼働率71%・週2回の手動価格改定を最適化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6400800" cy="3657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51760"/>
            <a:ext cx="45720" cy="365760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83464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価格は変えている。でも、"いつ・どこまで・なぜ"を決める仕組みがない。</a:t>
            </a:r>
            <a:br/>
            <a:br/>
            <a:r>
              <a:t>にわたまは需要・曜日・イベント・残室数をもとにした価格推奨ロジックを構築。</a:t>
            </a:r>
            <a:br/>
            <a:br/>
            <a:r>
              <a:t>支配人の判断材料としても、現場説明の根拠としても使える形でルールを設計し、稼働率を大きく落とすことなく客室売上の最大化を実現しました。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731520"/>
            <a:ext cx="4206240" cy="5577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731520"/>
            <a:ext cx="420624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EC4899"/>
                </a:solidFill>
                <a:latin typeface="Orbitron"/>
              </a:defRPr>
            </a:pPr>
            <a:r>
              <a:t>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1463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536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ADR（平均客室単価）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810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¥8,400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810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783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4899"/>
                </a:solidFill>
                <a:latin typeface="Yu Gothic"/>
              </a:defRPr>
            </a:pPr>
            <a:r>
              <a:t>¥9,250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2606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679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RevPAR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53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¥5,964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953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926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4899"/>
                </a:solidFill>
                <a:latin typeface="Yu Gothic"/>
              </a:defRPr>
            </a:pPr>
            <a:r>
              <a:t>¥6,845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3749039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3822191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月間客室売上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0690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4899"/>
                </a:solidFill>
                <a:latin typeface="Yu Gothic"/>
              </a:defRPr>
            </a:pPr>
            <a:r>
              <a:t>+11.8%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4892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4965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価格改定作業/週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239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4時間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5239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18320" y="5212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EC4899"/>
                </a:solidFill>
                <a:latin typeface="Yu Gothic"/>
              </a:defRPr>
            </a:pPr>
            <a:r>
              <a:t>45分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noFill/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noFill/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73152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6400800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943600"/>
            <a:ext cx="54864" cy="5486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0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"/>
            <a:ext cx="228600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Orbitron"/>
              </a:defRPr>
            </a:pPr>
            <a:r>
              <a:t>CASE STUDY 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731520"/>
            <a:ext cx="3840480" cy="347472"/>
          </a:xfrm>
          <a:prstGeom prst="roundRect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4980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97316"/>
                </a:solidFill>
                <a:latin typeface="Yu Gothic"/>
              </a:defRPr>
            </a:pPr>
            <a:r>
              <a:t>🚚  Logistics / Route Optimization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280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Yu Gothic"/>
              </a:defRPr>
            </a:pPr>
            <a:r>
              <a:t>配車担当の経験値を、</a:t>
            </a:r>
            <a:br/>
            <a:r>
              <a:t>再現可能な配送ロジックへ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Yu Gothic"/>
              </a:defRPr>
            </a:pPr>
            <a:r>
              <a:t>食品・日用品配送会社｜車両18台・1日平均246件の配送ルートを再設計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6400800" cy="3657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51760"/>
            <a:ext cx="45720" cy="365760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83464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配送現場では、配車担当者の経験値がそのまま会社の生産性になります。</a:t>
            </a:r>
            <a:br/>
            <a:br/>
            <a:r>
              <a:t>にわたまは配送先・時間指定・車両容量・荷量をもとにルートを再設計し、走行距離と遅延を同時に圧縮。</a:t>
            </a:r>
            <a:br/>
            <a:br/>
            <a:r>
              <a:t>配車担当・ドライバーそれぞれに伝わる資料と画面を設計しました。</a:t>
            </a:r>
            <a:br/>
            <a:r>
              <a:t>最適化して終わりではなく、現場が使える形にする——そこまでが支援範囲です。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731520"/>
            <a:ext cx="4206240" cy="5577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731520"/>
            <a:ext cx="420624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97316"/>
                </a:solidFill>
                <a:latin typeface="Orbitron"/>
              </a:defRPr>
            </a:pPr>
            <a:r>
              <a:t>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1463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536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総走行距離/日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810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1,120km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810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783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7316"/>
                </a:solidFill>
                <a:latin typeface="Yu Gothic"/>
              </a:defRPr>
            </a:pPr>
            <a:r>
              <a:t>942km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2606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679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1件あたり配送コスト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26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7316"/>
                </a:solidFill>
                <a:latin typeface="Yu Gothic"/>
              </a:defRPr>
            </a:pPr>
            <a:r>
              <a:t>-12.6%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680960" y="3749039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863840" y="3822191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時間指定遅延率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409651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5.8%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60" y="409651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18320" y="40690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7316"/>
                </a:solidFill>
                <a:latin typeface="Yu Gothic"/>
              </a:defRPr>
            </a:pPr>
            <a:r>
              <a:t>1.9%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4892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4965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同一台数での配送件数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212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97316"/>
                </a:solidFill>
                <a:latin typeface="Yu Gothic"/>
              </a:defRPr>
            </a:pPr>
            <a:r>
              <a:t>+9.4%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noFill/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noFill/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73152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6400800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943600"/>
            <a:ext cx="54864" cy="5486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0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"/>
            <a:ext cx="228600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Orbitron"/>
              </a:defRPr>
            </a:pPr>
            <a:r>
              <a:t>CASE STUDY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731520"/>
            <a:ext cx="3840480" cy="347472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4980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8B5CF6"/>
                </a:solidFill>
                <a:latin typeface="Yu Gothic"/>
              </a:defRPr>
            </a:pPr>
            <a:r>
              <a:t>📊  Restaurant /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280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Yu Gothic"/>
              </a:defRPr>
            </a:pPr>
            <a:r>
              <a:t>数字を見る会社ではなく、</a:t>
            </a:r>
            <a:br/>
            <a:r>
              <a:t>数字で動ける会社へ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Yu Gothic"/>
              </a:defRPr>
            </a:pPr>
            <a:r>
              <a:t>6店舗展開の飲食チェーン・月商4,800万円｜POS・シフト・原価表を統合した経営ダッシュボード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6400800" cy="3657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51760"/>
            <a:ext cx="45720" cy="36576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83464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多店舗飲食では、データがないのではなく、見える形になっていないことが多くあります。</a:t>
            </a:r>
            <a:br/>
            <a:br/>
            <a:r>
              <a:t>にわたまはPOS・シフト・原価表をつなぎ、社長には経営判断に必要な数字を、店長には現場改善に必要な数字を、それぞれ別の見せ方で設計。</a:t>
            </a:r>
            <a:br/>
            <a:br/>
            <a:r>
              <a:t>会議のための集計作業を減らし、数字に基づく日次判断を可能にしました。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731520"/>
            <a:ext cx="4206240" cy="5577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731520"/>
            <a:ext cx="420624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Orbitron"/>
              </a:defRPr>
            </a:pPr>
            <a:r>
              <a:t>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1463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536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月次集計時間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810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18時間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810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783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Yu Gothic"/>
              </a:defRPr>
            </a:pPr>
            <a:r>
              <a:t>3時間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2606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679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店舗別PL確認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53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翌月10日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953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926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Yu Gothic"/>
              </a:defRPr>
            </a:pPr>
            <a:r>
              <a:t>翌日朝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3749039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3822191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人件費率 高止まり店舗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096511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3店/6店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52560" y="4096511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18320" y="4069079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Yu Gothic"/>
              </a:defRPr>
            </a:pPr>
            <a:r>
              <a:t>1店/6店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4892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863840" y="4965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意思決定リードタイム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863840" y="5239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週次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5239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5212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B5CF6"/>
                </a:solidFill>
                <a:latin typeface="Yu Gothic"/>
              </a:defRPr>
            </a:pPr>
            <a:r>
              <a:t>日次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noFill/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noFill/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73152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6400800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943600"/>
            <a:ext cx="54864" cy="5486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0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"/>
            <a:ext cx="228600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Orbitron"/>
              </a:defRPr>
            </a:pPr>
            <a:r>
              <a:t>CASE STUDY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731520"/>
            <a:ext cx="3840480" cy="347472"/>
          </a:xfrm>
          <a:prstGeom prst="roundRect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749808"/>
            <a:ext cx="3657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6B6D4"/>
                </a:solidFill>
                <a:latin typeface="Yu Gothic"/>
              </a:defRPr>
            </a:pPr>
            <a:r>
              <a:t>📣  Marketing / Ads &amp; Growth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1280160"/>
            <a:ext cx="6583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F172A"/>
                </a:solidFill>
                <a:latin typeface="Yu Gothic"/>
              </a:defRPr>
            </a:pPr>
            <a:r>
              <a:t>広告運用から事業成長まで、</a:t>
            </a:r>
            <a:br/>
            <a:r>
              <a:t>一気通貫のマーケティング支援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6583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Yu Gothic"/>
              </a:defRPr>
            </a:pPr>
            <a:r>
              <a:t>飲食SaaS・医薬品EC・ジムFC・オンライン塾など幅広い業種｜Google/Yahoo/SNS広告・LPO・SEO・MEO・LINE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2651760"/>
            <a:ext cx="6400800" cy="365760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2651760"/>
            <a:ext cx="45720" cy="365760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2834640"/>
            <a:ext cx="57607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Yu Gothic"/>
              </a:defRPr>
            </a:pPr>
            <a:r>
              <a:t>Google広告・Yahoo広告・SNS広告運用を中心に、マーケティング全体設計、LPO、SEO、MEO、LINE構築・運用まで一貫して対応。</a:t>
            </a:r>
            <a:br/>
            <a:br/>
            <a:r>
              <a:t>単なるレポーティングではなく、「次に何を改善すべきか」までセットでご提案。</a:t>
            </a:r>
            <a:br/>
            <a:br/>
            <a:r>
              <a:t>訴求軸の見直し、クリエイティブ改善、LP改善など、事業全体の成果改善につながる提案を行っています。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731520"/>
            <a:ext cx="4206240" cy="557784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498079" y="731520"/>
            <a:ext cx="4206240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914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6B6D4"/>
                </a:solidFill>
                <a:latin typeface="Orbitron"/>
              </a:defRPr>
            </a:pPr>
            <a:r>
              <a:t>RESULTS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1463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1536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アプリユーザー（動画広告）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1810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1,000人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1810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18320" y="1783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Yu Gothic"/>
              </a:defRPr>
            </a:pPr>
            <a:r>
              <a:t>30,000人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680960" y="2606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63840" y="2679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教育系リード獲得CPA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295351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¥3,000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953512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8320" y="292608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Yu Gothic"/>
              </a:defRPr>
            </a:pPr>
            <a:r>
              <a:t>¥2,000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680960" y="3749039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863840" y="3822191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飲食SaaS CPA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63840" y="4069079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Yu Gothic"/>
              </a:defRPr>
            </a:pPr>
            <a:r>
              <a:t>50%削減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680960" y="4892040"/>
            <a:ext cx="3840480" cy="960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4965192"/>
            <a:ext cx="3474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4A3B8"/>
                </a:solidFill>
                <a:latin typeface="Yu Gothic"/>
              </a:defRPr>
            </a:pPr>
            <a:r>
              <a:t>オンライン塾 CPO/ROAS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63840" y="521208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6B6D4"/>
                </a:solidFill>
                <a:latin typeface="Yu Gothic"/>
              </a:defRPr>
            </a:pPr>
            <a:r>
              <a:t>CPO 59%改善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457200" y="-457200"/>
            <a:ext cx="2743200" cy="2743200"/>
          </a:xfrm>
          <a:prstGeom prst="ellipse">
            <a:avLst/>
          </a:prstGeom>
          <a:noFill/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5029200"/>
            <a:ext cx="3200400" cy="3200400"/>
          </a:xfrm>
          <a:prstGeom prst="ellipse">
            <a:avLst/>
          </a:prstGeom>
          <a:noFill/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155680" y="731520"/>
            <a:ext cx="109728" cy="109728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6400800"/>
            <a:ext cx="73152" cy="73152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789920" y="5943600"/>
            <a:ext cx="54864" cy="54864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0" y="0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228600"/>
            <a:ext cx="2286000" cy="347472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46888"/>
            <a:ext cx="21031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8B5CF6"/>
                </a:solidFill>
                <a:latin typeface="Orbitron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40080"/>
            <a:ext cx="10058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0F172A"/>
                </a:solidFill>
                <a:latin typeface="Yu Gothic"/>
              </a:defRPr>
            </a:pPr>
            <a:r>
              <a:t>ご支援の流れ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371600"/>
            <a:ext cx="2103120" cy="4937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1371600"/>
            <a:ext cx="210312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1645920"/>
            <a:ext cx="731520" cy="73152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171907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3B82F6"/>
                </a:solidFill>
                <a:latin typeface="Orbitron"/>
              </a:defRPr>
            </a:pPr>
            <a: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Yu Gothic"/>
              </a:defRPr>
            </a:pPr>
            <a:r>
              <a:t>無料ヒアリング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2004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現状の課題と業務フローを</a:t>
            </a:r>
            <a:br/>
            <a:r>
              <a:t>ヒアリングし、データ活用の</a:t>
            </a:r>
            <a:br/>
            <a:r>
              <a:t>可能性を診断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697479" y="1371600"/>
            <a:ext cx="2103120" cy="4937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97479" y="1371600"/>
            <a:ext cx="210312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83279" y="1645920"/>
            <a:ext cx="731520" cy="731520"/>
          </a:xfrm>
          <a:prstGeom prst="ellipse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79" y="171907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8B5CF6"/>
                </a:solidFill>
                <a:latin typeface="Orbitron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19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Yu Gothic"/>
              </a:defRPr>
            </a:pPr>
            <a:r>
              <a:t>ご提案・お見積り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19" y="32004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課題に対する具体的な</a:t>
            </a:r>
            <a:br/>
            <a:r>
              <a:t>アプローチと想定成果・</a:t>
            </a:r>
            <a:br/>
            <a:r>
              <a:t>費用感をご提示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00599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29200" y="1371600"/>
            <a:ext cx="2103120" cy="4937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29200" y="1371600"/>
            <a:ext cx="2103120" cy="36576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715000" y="1645920"/>
            <a:ext cx="731520" cy="731520"/>
          </a:xfrm>
          <a:prstGeom prst="ellipse">
            <a:avLst/>
          </a:prstGeom>
          <a:solidFill>
            <a:srgbClr val="FCE7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15000" y="171907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C4899"/>
                </a:solidFill>
                <a:latin typeface="Orbitron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Yu Gothic"/>
              </a:defRPr>
            </a:pPr>
            <a:r>
              <a:t>分析・構築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20640" y="32004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データの取得・分析・</a:t>
            </a:r>
            <a:br/>
            <a:r>
              <a:t>ロジック構築を実施</a:t>
            </a:r>
            <a:br/>
            <a:r>
              <a:t>（最短2週間〜）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132320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60919" y="1371600"/>
            <a:ext cx="2103120" cy="4937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60919" y="1371600"/>
            <a:ext cx="2103120" cy="3657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046719" y="1645920"/>
            <a:ext cx="731520" cy="731520"/>
          </a:xfrm>
          <a:prstGeom prst="ellipse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9" y="171907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0B981"/>
                </a:solidFill>
                <a:latin typeface="Orbitron"/>
              </a:defRPr>
            </a:pPr>
            <a: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59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Yu Gothic"/>
              </a:defRPr>
            </a:pPr>
            <a:r>
              <a:t>現場への導入支援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52359" y="32004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経営層向け・現場向け</a:t>
            </a:r>
            <a:br/>
            <a:r>
              <a:t>それぞれに"伝わる形"で</a:t>
            </a:r>
            <a:br/>
            <a:r>
              <a:t>アウトプットを設計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464039" y="3200400"/>
            <a:ext cx="228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94A3B8"/>
                </a:solidFill>
                <a:latin typeface="Yu Gothic"/>
              </a:defRPr>
            </a:pPr>
            <a:r>
              <a:t>→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692640" y="1371600"/>
            <a:ext cx="2103120" cy="49377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692640" y="1371600"/>
            <a:ext cx="21031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378440" y="1645920"/>
            <a:ext cx="731520" cy="731520"/>
          </a:xfrm>
          <a:prstGeom prst="ellipse">
            <a:avLst/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78440" y="1719072"/>
            <a:ext cx="731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97316"/>
                </a:solidFill>
                <a:latin typeface="Orbitron"/>
              </a:defRPr>
            </a:pPr>
            <a:r>
              <a:t>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0" y="265176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F172A"/>
                </a:solidFill>
                <a:latin typeface="Yu Gothic"/>
              </a:defRPr>
            </a:pPr>
            <a:r>
              <a:t>継続改善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84080" y="3200400"/>
            <a:ext cx="19202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Yu Gothic"/>
              </a:defRPr>
            </a:pPr>
            <a:r>
              <a:t>月次レポートと改善提案で</a:t>
            </a:r>
            <a:br/>
            <a:r>
              <a:t>成果を持続的に</a:t>
            </a:r>
            <a:br/>
            <a:r>
              <a:t>伸ばします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0" y="0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6000" y="731520"/>
            <a:ext cx="7772400" cy="7772400"/>
          </a:xfrm>
          <a:prstGeom prst="ellipse">
            <a:avLst/>
          </a:prstGeom>
          <a:noFill/>
          <a:ln w="1524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474720" y="1645920"/>
            <a:ext cx="5486400" cy="5486400"/>
          </a:xfrm>
          <a:prstGeom prst="ellipse">
            <a:avLst/>
          </a:prstGeom>
          <a:noFill/>
          <a:ln w="15240">
            <a:solidFill>
              <a:srgbClr val="FCE7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0" y="2286000"/>
            <a:ext cx="3200400" cy="3200400"/>
          </a:xfrm>
          <a:prstGeom prst="ellipse">
            <a:avLst/>
          </a:prstGeom>
          <a:noFill/>
          <a:ln w="15240"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10332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8B5CF6"/>
                </a:solidFill>
                <a:latin typeface="Orbitron"/>
              </a:defRPr>
            </a:pPr>
            <a:r>
              <a:t>CONTACT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F172A"/>
                </a:solidFill>
                <a:latin typeface="Yu Gothic"/>
              </a:defRPr>
            </a:pPr>
            <a:r>
              <a:t>まずはお気軽にご相談ください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2608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475569"/>
                </a:solidFill>
                <a:latin typeface="Yu Gothic"/>
              </a:defRPr>
            </a:pPr>
            <a:r>
              <a:t>YouTubeチャンネルの立ち上げ・改善、データ活用・需要予測、広告運用まで、</a:t>
            </a:r>
            <a:br/>
            <a:r>
              <a:t>無料ヒアリングを実施いたします。最短2週間で運用開始可能です。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0" y="4206240"/>
            <a:ext cx="3931920" cy="594360"/>
          </a:xfrm>
          <a:prstGeom prst="round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0" y="425196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Yu Gothic"/>
              </a:defRPr>
            </a:pPr>
            <a:r>
              <a:t>info@ni-wa-tama.com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486400"/>
            <a:ext cx="10332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Yu Gothic"/>
              </a:defRPr>
            </a:pPr>
            <a:r>
              <a:t>にわたま Inc.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21424"/>
            <a:ext cx="5943600" cy="3657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43600" y="6821424"/>
            <a:ext cx="6248095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